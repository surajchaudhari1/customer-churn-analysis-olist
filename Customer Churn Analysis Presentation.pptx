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-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B8CC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B8CC"/>
                </a:solidFill>
                <a:latin typeface="Arial"/>
              </a:rPr>
              <a:t>Customer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C3-4583-9ADA-7DF25C756226}"/>
              </c:ext>
            </c:extLst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C3-4583-9ADA-7DF25C756226}"/>
              </c:ext>
            </c:extLst>
          </c:dPt>
          <c:cat>
            <c:strRef>
              <c:f>Sheet1!$A$2:$A$3</c:f>
              <c:strCache>
                <c:ptCount val="2"/>
                <c:pt idx="0">
                  <c:v>Churned (71%)</c:v>
                </c:pt>
                <c:pt idx="1">
                  <c:v>Active (29%)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67293</c:v>
                </c:pt>
                <c:pt idx="1">
                  <c:v>27697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C3-4583-9ADA-7DF25C7562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EA8C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B8CC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B8CC"/>
                </a:solidFill>
                <a:latin typeface="Arial"/>
              </a:rPr>
              <a:t>Revenue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B2-47EE-BDDB-DC210F5DE7B1}"/>
              </c:ext>
            </c:extLst>
          </c:dPt>
          <c:dPt>
            <c:idx val="1"/>
            <c:bubble3D val="0"/>
            <c:spPr>
              <a:solidFill>
                <a:srgbClr val="00B8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B2-47EE-BDDB-DC210F5DE7B1}"/>
              </c:ext>
            </c:extLst>
          </c:dPt>
          <c:cat>
            <c:strRef>
              <c:f>Sheet1!$A$2:$A$3</c:f>
              <c:strCache>
                <c:ptCount val="2"/>
                <c:pt idx="0">
                  <c:v>Churned Revenue (70%)</c:v>
                </c:pt>
                <c:pt idx="1">
                  <c:v>Active Revenue (30%)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11037239</c:v>
                </c:pt>
                <c:pt idx="1">
                  <c:v>4701898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B2-47EE-BDDB-DC210F5DE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EA8C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</c:v>
                </c:pt>
                <c:pt idx="1">
                  <c:v>AL</c:v>
                </c:pt>
                <c:pt idx="2">
                  <c:v>PA</c:v>
                </c:pt>
                <c:pt idx="3">
                  <c:v>MA</c:v>
                </c:pt>
                <c:pt idx="4">
                  <c:v>RO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81.8</c:v>
                </c:pt>
                <c:pt idx="1">
                  <c:v>77.7</c:v>
                </c:pt>
                <c:pt idx="2">
                  <c:v>77.2</c:v>
                </c:pt>
                <c:pt idx="3">
                  <c:v>76.8</c:v>
                </c:pt>
                <c:pt idx="4">
                  <c:v>76.099999999999994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7B-4476-B48B-A753B8DC06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5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B8CC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B8CC"/>
                </a:solidFill>
                <a:latin typeface="Arial"/>
              </a:rPr>
              <a:t>Monthly New Customer Acquisitions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 / Month</c:v>
                </c:pt>
              </c:strCache>
            </c:strRef>
          </c:tx>
          <c:spPr>
            <a:ln w="38100" cap="flat">
              <a:solidFill>
                <a:srgbClr val="00B8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8CC"/>
              </a:solidFill>
              <a:ln w="9525" cap="flat">
                <a:solidFill>
                  <a:srgbClr val="00B8CC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Jan'17</c:v>
                </c:pt>
                <c:pt idx="1">
                  <c:v>Feb'17</c:v>
                </c:pt>
                <c:pt idx="2">
                  <c:v>Mar'17</c:v>
                </c:pt>
                <c:pt idx="3">
                  <c:v>Apr'17</c:v>
                </c:pt>
                <c:pt idx="4">
                  <c:v>May'17</c:v>
                </c:pt>
                <c:pt idx="5">
                  <c:v>Jun'17</c:v>
                </c:pt>
                <c:pt idx="6">
                  <c:v>Jul'17</c:v>
                </c:pt>
                <c:pt idx="7">
                  <c:v>Aug'17</c:v>
                </c:pt>
                <c:pt idx="8">
                  <c:v>Sep'17</c:v>
                </c:pt>
                <c:pt idx="9">
                  <c:v>Oct'17</c:v>
                </c:pt>
                <c:pt idx="10">
                  <c:v>Nov'17</c:v>
                </c:pt>
                <c:pt idx="11">
                  <c:v>Dec'17</c:v>
                </c:pt>
                <c:pt idx="12">
                  <c:v>Jan'18</c:v>
                </c:pt>
                <c:pt idx="13">
                  <c:v>Feb'18</c:v>
                </c:pt>
                <c:pt idx="14">
                  <c:v>Mar'18</c:v>
                </c:pt>
                <c:pt idx="15">
                  <c:v>Apr'18</c:v>
                </c:pt>
                <c:pt idx="16">
                  <c:v>May'18</c:v>
                </c:pt>
                <c:pt idx="17">
                  <c:v>Jun'18</c:v>
                </c:pt>
                <c:pt idx="18">
                  <c:v>Jul'18</c:v>
                </c:pt>
                <c:pt idx="19">
                  <c:v>Aug'18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752</c:v>
                </c:pt>
                <c:pt idx="1">
                  <c:v>1690</c:v>
                </c:pt>
                <c:pt idx="2">
                  <c:v>2571</c:v>
                </c:pt>
                <c:pt idx="3">
                  <c:v>2325</c:v>
                </c:pt>
                <c:pt idx="4">
                  <c:v>3541</c:v>
                </c:pt>
                <c:pt idx="5">
                  <c:v>3102</c:v>
                </c:pt>
                <c:pt idx="6">
                  <c:v>3822</c:v>
                </c:pt>
                <c:pt idx="7">
                  <c:v>4130</c:v>
                </c:pt>
                <c:pt idx="8">
                  <c:v>4075</c:v>
                </c:pt>
                <c:pt idx="9">
                  <c:v>4392</c:v>
                </c:pt>
                <c:pt idx="10">
                  <c:v>7190</c:v>
                </c:pt>
                <c:pt idx="11">
                  <c:v>5439</c:v>
                </c:pt>
                <c:pt idx="12">
                  <c:v>6951</c:v>
                </c:pt>
                <c:pt idx="13">
                  <c:v>6357</c:v>
                </c:pt>
                <c:pt idx="14">
                  <c:v>6931</c:v>
                </c:pt>
                <c:pt idx="15">
                  <c:v>6698</c:v>
                </c:pt>
                <c:pt idx="16">
                  <c:v>6274</c:v>
                </c:pt>
                <c:pt idx="17">
                  <c:v>6535</c:v>
                </c:pt>
                <c:pt idx="18">
                  <c:v>5985</c:v>
                </c:pt>
                <c:pt idx="19">
                  <c:v>6042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B2B-4C06-B8C0-0415F057B6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5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B8CC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B8CC"/>
                </a:solidFill>
                <a:latin typeface="Arial"/>
              </a:rPr>
              <a:t>Delivery Status vs Churn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3AC-4C78-B455-EFB95CA51619}"/>
              </c:ext>
            </c:extLst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AC-4C78-B455-EFB95CA5161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Late Delivery</c:v>
                </c:pt>
                <c:pt idx="1">
                  <c:v>On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78.5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AC-4C78-B455-EFB95CA516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1C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5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B8CC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B8CC"/>
                </a:solidFill>
                <a:latin typeface="Arial"/>
              </a:rPr>
              <a:t>Review Score vs Churn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03-4190-8079-0372607759E1}"/>
              </c:ext>
            </c:extLst>
          </c:dPt>
          <c:dPt>
            <c:idx val="1"/>
            <c:invertIfNegative val="0"/>
            <c:bubble3D val="0"/>
            <c:spPr>
              <a:solidFill>
                <a:srgbClr val="FF7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03-4190-8079-0372607759E1}"/>
              </c:ext>
            </c:extLst>
          </c:dPt>
          <c:dPt>
            <c:idx val="2"/>
            <c:invertIfNegative val="0"/>
            <c:bubble3D val="0"/>
            <c:spPr>
              <a:solidFill>
                <a:srgbClr val="FFB5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03-4190-8079-0372607759E1}"/>
              </c:ext>
            </c:extLst>
          </c:dPt>
          <c:dPt>
            <c:idx val="3"/>
            <c:invertIfNegative val="0"/>
            <c:bubble3D val="0"/>
            <c:spPr>
              <a:solidFill>
                <a:srgbClr val="88CC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03-4190-8079-0372607759E1}"/>
              </c:ext>
            </c:extLst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503-4190-8079-0372607759E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78.3</c:v>
                </c:pt>
                <c:pt idx="1">
                  <c:v>75.8</c:v>
                </c:pt>
                <c:pt idx="2">
                  <c:v>74.8</c:v>
                </c:pt>
                <c:pt idx="3">
                  <c:v>71.900000000000006</c:v>
                </c:pt>
                <c:pt idx="4">
                  <c:v>68.599999999999994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503-4190-8079-0372607759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1C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5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B8CC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B8CC"/>
                </a:solidFill>
                <a:latin typeface="Arial"/>
              </a:rPr>
              <a:t>Top Categories — Repeat Customers (Orders)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B8C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bed_bath_table</c:v>
                </c:pt>
                <c:pt idx="1">
                  <c:v>sports_leisure</c:v>
                </c:pt>
                <c:pt idx="2">
                  <c:v>furniture_decor</c:v>
                </c:pt>
                <c:pt idx="3">
                  <c:v>health_beauty</c:v>
                </c:pt>
                <c:pt idx="4">
                  <c:v>computers_acc</c:v>
                </c:pt>
                <c:pt idx="5">
                  <c:v>housewares</c:v>
                </c:pt>
                <c:pt idx="6">
                  <c:v>watches_gifts</c:v>
                </c:pt>
                <c:pt idx="7">
                  <c:v>fashion_bags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867</c:v>
                </c:pt>
                <c:pt idx="1">
                  <c:v>603</c:v>
                </c:pt>
                <c:pt idx="2">
                  <c:v>586</c:v>
                </c:pt>
                <c:pt idx="3">
                  <c:v>506</c:v>
                </c:pt>
                <c:pt idx="4">
                  <c:v>411</c:v>
                </c:pt>
                <c:pt idx="5">
                  <c:v>348</c:v>
                </c:pt>
                <c:pt idx="6">
                  <c:v>278</c:v>
                </c:pt>
                <c:pt idx="7">
                  <c:v>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17-476B-BB79-5F17B97606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5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39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B8CC">
              <a:alpha val="15000"/>
            </a:srgbClr>
          </a:solidFill>
          <a:ln w="12700">
            <a:solidFill>
              <a:srgbClr val="00B8C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286000" cy="2286000"/>
          </a:xfrm>
          <a:prstGeom prst="ellipse">
            <a:avLst/>
          </a:prstGeom>
          <a:solidFill>
            <a:srgbClr val="00B8CC">
              <a:alpha val="25000"/>
            </a:srgbClr>
          </a:solidFill>
          <a:ln w="12700">
            <a:solidFill>
              <a:srgbClr val="00B8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8CC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3200400" cy="38862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Churn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0B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Olist E-Commerce Platform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2011680" cy="36576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SQL + Power BI  |  Dataset: 2017–2018  |  94,990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920240" cy="68580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995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94,990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325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33472" y="3977640"/>
            <a:ext cx="1920240" cy="68580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33472" y="3995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33472" y="4325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9744" y="3977640"/>
            <a:ext cx="1920240" cy="68580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9744" y="3995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4325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86016" y="3977640"/>
            <a:ext cx="1920240" cy="68580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86016" y="3995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27,697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86016" y="4325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206240" cy="105156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02920" cy="105156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6184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background, dataset scope &amp; key metrics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206240" cy="105156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502920" cy="105156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468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&amp; Revenue Loss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85292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left and how much revenue was lost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206240" cy="105156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11880"/>
            <a:ext cx="502920" cy="105156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703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Segmentation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0873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At Risk, Churned Recent &amp; Long Term breakdown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1143000"/>
            <a:ext cx="4206240" cy="105156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143000"/>
            <a:ext cx="502920" cy="105156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58968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Review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16184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late delivery and low ratings drive churn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2377440"/>
            <a:ext cx="4206240" cy="105156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377440"/>
            <a:ext cx="502920" cy="105156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697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58968" y="2468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Repeat Buyers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58968" y="285292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rate, LTV comparison, top categories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3611880"/>
            <a:ext cx="4206240" cy="105156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611880"/>
            <a:ext cx="502920" cy="105156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31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58968" y="3703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40873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to reduce churn and grow revenue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Business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384048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Olist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largest e-commerce marketplace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small &amp; medium sellers to major platforms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 Jan 2017 to Oct 2018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94,990 unique customers analyzed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from 27 Brazilian states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+ Power BI dashboard built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1965960" cy="1737360"/>
          </a:xfrm>
          <a:prstGeom prst="rect">
            <a:avLst/>
          </a:prstGeom>
          <a:solidFill>
            <a:srgbClr val="060E22"/>
          </a:solidFill>
          <a:ln w="254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2471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0600" y="161848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94,990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00600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0" y="960120"/>
            <a:ext cx="1965960" cy="1737360"/>
          </a:xfrm>
          <a:prstGeom prst="rect">
            <a:avLst/>
          </a:prstGeom>
          <a:solidFill>
            <a:srgbClr val="060E22"/>
          </a:solidFill>
          <a:ln w="254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1247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161848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949440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09160" y="2926080"/>
            <a:ext cx="1965960" cy="1737360"/>
          </a:xfrm>
          <a:prstGeom prst="rect">
            <a:avLst/>
          </a:prstGeom>
          <a:solidFill>
            <a:srgbClr val="060E22"/>
          </a:solidFill>
          <a:ln w="254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9067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358444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R$15.7M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4800600" y="41605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2926080"/>
            <a:ext cx="1965960" cy="1737360"/>
          </a:xfrm>
          <a:prstGeom prst="rect">
            <a:avLst/>
          </a:prstGeom>
          <a:solidFill>
            <a:srgbClr val="060E22"/>
          </a:solidFill>
          <a:ln w="254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309067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358444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2017–18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949440" y="41605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Churn Rate &amp; Revenue Lost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743200" cy="2286000"/>
          </a:xfrm>
          <a:prstGeom prst="rect">
            <a:avLst/>
          </a:prstGeom>
          <a:solidFill>
            <a:srgbClr val="060E22"/>
          </a:solidFill>
          <a:ln w="254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7899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7190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114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67,293 customers never returned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960120"/>
            <a:ext cx="2743200" cy="2286000"/>
          </a:xfrm>
          <a:prstGeom prst="rect">
            <a:avLst/>
          </a:prstGeom>
          <a:solidFill>
            <a:srgbClr val="060E22"/>
          </a:solidFill>
          <a:ln w="254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078992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7190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B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R$11M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33375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Churn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total revenue walked away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63640" y="960120"/>
            <a:ext cx="2423160" cy="2286000"/>
          </a:xfrm>
          <a:prstGeom prst="rect">
            <a:avLst/>
          </a:prstGeom>
          <a:solidFill>
            <a:srgbClr val="060E22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078992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171907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R$1.1M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26364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Potential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10% churned customers retained</a:t>
            </a:r>
            <a:endParaRPr lang="en-US" sz="9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11480" y="3383280"/>
          <a:ext cx="41148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617720" y="3383280"/>
          <a:ext cx="41148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Churn Segmentation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1965960" cy="2926080"/>
          </a:xfrm>
          <a:prstGeom prst="rect">
            <a:avLst/>
          </a:prstGeom>
          <a:solidFill>
            <a:srgbClr val="060E22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196596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9,464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9.96%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order ≤ 90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R$164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960120"/>
            <a:ext cx="1965960" cy="2926080"/>
          </a:xfrm>
          <a:prstGeom prst="rect">
            <a:avLst/>
          </a:prstGeom>
          <a:solidFill>
            <a:srgbClr val="060E22"/>
          </a:solidFill>
          <a:ln w="254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960120"/>
            <a:ext cx="1965960" cy="411480"/>
          </a:xfrm>
          <a:prstGeom prst="rect">
            <a:avLst/>
          </a:prstGeom>
          <a:solidFill>
            <a:srgbClr val="FFB54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18,238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87752" y="2084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19.19%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60904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order 90–180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60904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R$172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64024" y="960120"/>
            <a:ext cx="1965960" cy="2926080"/>
          </a:xfrm>
          <a:prstGeom prst="rect">
            <a:avLst/>
          </a:prstGeom>
          <a:solidFill>
            <a:srgbClr val="060E22"/>
          </a:solidFill>
          <a:ln w="254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64024" y="960120"/>
            <a:ext cx="1965960" cy="411480"/>
          </a:xfrm>
          <a:prstGeom prst="rect">
            <a:avLst/>
          </a:prstGeom>
          <a:solidFill>
            <a:srgbClr val="FF5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— Recent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4024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39,359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64024" y="2084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41.42%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37176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order 180–365 days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37176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R$162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0296" y="960120"/>
            <a:ext cx="1965960" cy="2926080"/>
          </a:xfrm>
          <a:prstGeom prst="rect">
            <a:avLst/>
          </a:prstGeom>
          <a:solidFill>
            <a:srgbClr val="060E22"/>
          </a:solidFill>
          <a:ln w="25400">
            <a:solidFill>
              <a:srgbClr val="CC33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0296" y="960120"/>
            <a:ext cx="1965960" cy="411480"/>
          </a:xfrm>
          <a:prstGeom prst="rect">
            <a:avLst/>
          </a:prstGeom>
          <a:solidFill>
            <a:srgbClr val="CC33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— Long Term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0296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C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27,966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940296" y="2084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29.43%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13448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order 365+ days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1344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R$166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Churn Rate</a:t>
            </a:r>
            <a:endParaRPr lang="en-US" sz="13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411480" y="4297680"/>
          <a:ext cx="502920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5532120" y="3931920"/>
            <a:ext cx="3154680" cy="1097280"/>
          </a:xfrm>
          <a:prstGeom prst="rect">
            <a:avLst/>
          </a:prstGeom>
          <a:solidFill>
            <a:srgbClr val="112255"/>
          </a:solidFill>
          <a:ln w="127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005072"/>
            <a:ext cx="320040" cy="3200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989320" y="3977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18K At Risk customers immediately with a win-back discount campaign.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Growth vs Retention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11480" y="960120"/>
          <a:ext cx="6217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115568"/>
            <a:ext cx="1920240" cy="685800"/>
          </a:xfrm>
          <a:prstGeom prst="rect">
            <a:avLst/>
          </a:prstGeom>
          <a:solidFill>
            <a:srgbClr val="060E22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17043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78040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grew ~10x from Jan to Nov 2017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766560" y="1874520"/>
            <a:ext cx="1920240" cy="685800"/>
          </a:xfrm>
          <a:prstGeom prst="rect">
            <a:avLst/>
          </a:prstGeom>
          <a:solidFill>
            <a:srgbClr val="060E22"/>
          </a:solidFill>
          <a:ln w="127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99339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78040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Nov 2017 = 7,190 new customers (single month peak)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766560" y="2697480"/>
            <a:ext cx="1920240" cy="685800"/>
          </a:xfrm>
          <a:prstGeom prst="rect">
            <a:avLst/>
          </a:prstGeom>
          <a:solidFill>
            <a:srgbClr val="060E22"/>
          </a:solidFill>
          <a:ln w="127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81635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78040" y="2743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all acquired customers returned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6766560" y="3520440"/>
            <a:ext cx="1920240" cy="685800"/>
          </a:xfrm>
          <a:prstGeom prst="rect">
            <a:avLst/>
          </a:prstGeom>
          <a:solidFill>
            <a:srgbClr val="060E22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639312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78040" y="3566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acquisition + low retention = unsustainable growth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411480" y="4279392"/>
            <a:ext cx="832104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548640" y="43159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Launch a post-purchase email sequence within 30 days of first order to convert new buyers into repeat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Delivery &amp; Review Impact on Churn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1965960" cy="731520"/>
          </a:xfrm>
          <a:prstGeom prst="rect">
            <a:avLst/>
          </a:prstGeom>
          <a:solidFill>
            <a:srgbClr val="060E22"/>
          </a:solidFill>
          <a:ln w="127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78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87752" y="960120"/>
            <a:ext cx="1965960" cy="731520"/>
          </a:xfrm>
          <a:prstGeom prst="rect">
            <a:avLst/>
          </a:prstGeom>
          <a:solidFill>
            <a:srgbClr val="060E22"/>
          </a:solidFill>
          <a:ln w="127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978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87752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64024" y="960120"/>
            <a:ext cx="1965960" cy="731520"/>
          </a:xfrm>
          <a:prstGeom prst="rect">
            <a:avLst/>
          </a:prstGeom>
          <a:solidFill>
            <a:srgbClr val="060E22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64024" y="978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4.1/5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64024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0296" y="960120"/>
            <a:ext cx="1965960" cy="731520"/>
          </a:xfrm>
          <a:prstGeom prst="rect">
            <a:avLst/>
          </a:prstGeom>
          <a:solidFill>
            <a:srgbClr val="060E22"/>
          </a:solidFill>
          <a:ln w="127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0296" y="978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0296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Reviews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11480" y="1828800"/>
          <a:ext cx="4114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4617720" y="1828800"/>
          <a:ext cx="40690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411480" y="3767328"/>
            <a:ext cx="8321040" cy="118872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8CC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48640" y="381304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Late delivery = 8.5pp higher churn (78.5% vs 70.0%) + avg review drops from 4.29 to 2.57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1-star reviewers churn at 78.3% — every star improvement reduces churn by ~3%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Recommendation: Penalize sellers with late delivery rate above 10% to directly reduce churn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Retention &amp; Repeat Buyers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1965960" cy="822960"/>
          </a:xfrm>
          <a:prstGeom prst="rect">
            <a:avLst/>
          </a:prstGeom>
          <a:solidFill>
            <a:srgbClr val="060E22"/>
          </a:solidFill>
          <a:ln w="127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78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4081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2,888 of 94,990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87752" y="960120"/>
            <a:ext cx="1965960" cy="822960"/>
          </a:xfrm>
          <a:prstGeom prst="rect">
            <a:avLst/>
          </a:prstGeom>
          <a:solidFill>
            <a:srgbClr val="060E22"/>
          </a:solidFill>
          <a:ln w="12700">
            <a:solidFill>
              <a:srgbClr val="8EA8C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978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87752" y="14081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Avg LTV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87752" y="16276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92,101 customers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64024" y="960120"/>
            <a:ext cx="1965960" cy="822960"/>
          </a:xfrm>
          <a:prstGeom prst="rect">
            <a:avLst/>
          </a:prstGeom>
          <a:solidFill>
            <a:srgbClr val="060E22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64024" y="978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64024" y="14081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Avg LTV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64024" y="16276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2,888 customers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40296" y="960120"/>
            <a:ext cx="1965960" cy="822960"/>
          </a:xfrm>
          <a:prstGeom prst="rect">
            <a:avLst/>
          </a:prstGeom>
          <a:solidFill>
            <a:srgbClr val="060E22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0296" y="978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0296" y="14081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Multiplier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0296" y="16276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vs One-Time</a:t>
            </a:r>
            <a:endParaRPr lang="en-US" sz="8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1920240"/>
          <a:ext cx="54864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035040" y="1920240"/>
            <a:ext cx="2651760" cy="822960"/>
          </a:xfrm>
          <a:prstGeom prst="rect">
            <a:avLst/>
          </a:prstGeom>
          <a:solidFill>
            <a:srgbClr val="060E22"/>
          </a:solidFill>
          <a:ln w="127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84832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100 Return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92240" y="2304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96.97% of customers buy just once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35040" y="2880360"/>
            <a:ext cx="2651760" cy="822960"/>
          </a:xfrm>
          <a:prstGeom prst="rect">
            <a:avLst/>
          </a:prstGeom>
          <a:solidFill>
            <a:srgbClr val="060E22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044952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9224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 Higher Spend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92240" y="3264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spend R$308 vs R$161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035040" y="3840480"/>
            <a:ext cx="2651760" cy="822960"/>
          </a:xfrm>
          <a:prstGeom prst="rect">
            <a:avLst/>
          </a:prstGeom>
          <a:solidFill>
            <a:srgbClr val="060E22"/>
          </a:solidFill>
          <a:ln w="127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0507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9224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Lifestyle Win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92240" y="4224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bed_bath_table leads repeat purchases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035040" y="4773168"/>
            <a:ext cx="2651760" cy="274320"/>
          </a:xfrm>
          <a:prstGeom prst="rect">
            <a:avLst/>
          </a:prstGeom>
          <a:solidFill>
            <a:srgbClr val="112255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35040" y="4773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repeat improvement = R$800K extra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0B8CC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160520" cy="1234440"/>
          </a:xfrm>
          <a:prstGeom prst="rect">
            <a:avLst/>
          </a:prstGeom>
          <a:solidFill>
            <a:srgbClr val="060E22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57200" cy="123444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3560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1060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Email (30 Days)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41732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follow-up email within 30 days of first order. Target one-time buyers with personalized product recommendations in bed_bath_table, sports, and health categories.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82312" y="1005840"/>
            <a:ext cx="4160520" cy="1234440"/>
          </a:xfrm>
          <a:prstGeom prst="rect">
            <a:avLst/>
          </a:prstGeom>
          <a:solidFill>
            <a:srgbClr val="060E22"/>
          </a:solidFill>
          <a:ln w="12700">
            <a:solidFill>
              <a:srgbClr val="FFB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005840"/>
            <a:ext cx="457200" cy="1234440"/>
          </a:xfrm>
          <a:prstGeom prst="rect">
            <a:avLst/>
          </a:prstGeom>
          <a:solidFill>
            <a:srgbClr val="FFB54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3560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12664" y="1060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 for At-Risk Customers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12664" y="141732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target 18,238 At-Risk customers (90–180 days inactive) with a discount voucher or reminder. These customers still remember the brand and are easiest to recover.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59152"/>
            <a:ext cx="4160520" cy="1234440"/>
          </a:xfrm>
          <a:prstGeom prst="rect">
            <a:avLst/>
          </a:prstGeom>
          <a:solidFill>
            <a:srgbClr val="060E22"/>
          </a:solidFill>
          <a:ln w="1270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59152"/>
            <a:ext cx="457200" cy="1234440"/>
          </a:xfrm>
          <a:prstGeom prst="rect">
            <a:avLst/>
          </a:prstGeom>
          <a:solidFill>
            <a:srgbClr val="FF5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788920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" y="2414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Late Delivery Sellers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832" y="277063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with late delivery rate &gt; 10% should face penalties or lower visibility. Late delivery causes 8.5pp higher churn and drags avg review score from 4.29 → 2.57.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82312" y="2359152"/>
            <a:ext cx="4160520" cy="1234440"/>
          </a:xfrm>
          <a:prstGeom prst="rect">
            <a:avLst/>
          </a:prstGeom>
          <a:solidFill>
            <a:srgbClr val="060E22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2359152"/>
            <a:ext cx="457200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88920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12664" y="2414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Review Alert System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12664" y="277063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1-star reviews instantly and trigger a customer service follow-up. 1-star reviewers churn at 78.3%. Fast resolution can save many of them before they leave permanently.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712464"/>
            <a:ext cx="4160520" cy="1234440"/>
          </a:xfrm>
          <a:prstGeom prst="rect">
            <a:avLst/>
          </a:prstGeom>
          <a:solidFill>
            <a:srgbClr val="060E22"/>
          </a:solidFill>
          <a:ln w="12700">
            <a:solidFill>
              <a:srgbClr val="AA4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712464"/>
            <a:ext cx="457200" cy="1234440"/>
          </a:xfrm>
          <a:prstGeom prst="rect">
            <a:avLst/>
          </a:prstGeom>
          <a:solidFill>
            <a:srgbClr val="AA4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142232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1832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Northern State Logistics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" y="41239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AC, AL, PA, MA have 77–82% churn — driven by long delivery times and high freight costs. Adding regional sellers or logistics hubs in these states will reduce churn significantly.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82312" y="3712464"/>
            <a:ext cx="4160520" cy="1234440"/>
          </a:xfrm>
          <a:prstGeom prst="rect">
            <a:avLst/>
          </a:prstGeom>
          <a:solidFill>
            <a:srgbClr val="060E22"/>
          </a:solidFill>
          <a:ln w="12700">
            <a:solidFill>
              <a:srgbClr val="00B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3712464"/>
            <a:ext cx="457200" cy="1234440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142232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12664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/ Repeat Incentive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12664" y="41239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improvement in repeat purchase rate = R$800K in additional revenue. Introduce a points system or cashback for second orders. Repeat customers spend 1.9x more on average.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8CC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5A5F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out of 10 customers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came back.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grew 10x in acquisition — but failed to retain.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00B8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20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post-purchase email + win-back campaign can unlock R$1.1M in recovery revenue — with zero new customer acquisition cost.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837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— Olist E-Commerce</dc:title>
  <dc:subject>PptxGenJS Presentation</dc:subject>
  <dc:creator>PptxGenJS</dc:creator>
  <cp:lastModifiedBy>Suraj Chaudhari</cp:lastModifiedBy>
  <cp:revision>2</cp:revision>
  <dcterms:created xsi:type="dcterms:W3CDTF">2026-05-24T10:26:47Z</dcterms:created>
  <dcterms:modified xsi:type="dcterms:W3CDTF">2026-05-24T10:47:21Z</dcterms:modified>
</cp:coreProperties>
</file>